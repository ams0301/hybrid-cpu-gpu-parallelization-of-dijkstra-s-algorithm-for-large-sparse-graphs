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C45AF0B-9F94-4340-B1D4-A8D3CD2AF3D4}">
  <a:tblStyle styleId="{1C45AF0B-9F94-4340-B1D4-A8D3CD2AF3D4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4" name="Google Shape;64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" name="Google Shape;107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9" name="Google Shape;2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6" name="Google Shape;3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Google Shape;16;p3"/>
          <p:cNvCxnSpPr/>
          <p:nvPr/>
        </p:nvCxnSpPr>
        <p:spPr>
          <a:xfrm>
            <a:off x="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3"/>
          <p:cNvCxnSpPr/>
          <p:nvPr/>
        </p:nvCxnSpPr>
        <p:spPr>
          <a:xfrm>
            <a:off x="5029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" name="Google Shape;18;p3"/>
          <p:cNvCxnSpPr/>
          <p:nvPr/>
        </p:nvCxnSpPr>
        <p:spPr>
          <a:xfrm>
            <a:off x="10058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" name="Google Shape;19;p3"/>
          <p:cNvCxnSpPr/>
          <p:nvPr/>
        </p:nvCxnSpPr>
        <p:spPr>
          <a:xfrm>
            <a:off x="15087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0" name="Google Shape;20;p3"/>
          <p:cNvCxnSpPr/>
          <p:nvPr/>
        </p:nvCxnSpPr>
        <p:spPr>
          <a:xfrm>
            <a:off x="20116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1" name="Google Shape;21;p3"/>
          <p:cNvCxnSpPr/>
          <p:nvPr/>
        </p:nvCxnSpPr>
        <p:spPr>
          <a:xfrm>
            <a:off x="25146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" name="Google Shape;22;p3"/>
          <p:cNvCxnSpPr/>
          <p:nvPr/>
        </p:nvCxnSpPr>
        <p:spPr>
          <a:xfrm>
            <a:off x="30175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3"/>
          <p:cNvCxnSpPr/>
          <p:nvPr/>
        </p:nvCxnSpPr>
        <p:spPr>
          <a:xfrm>
            <a:off x="35204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4" name="Google Shape;24;p3"/>
          <p:cNvCxnSpPr/>
          <p:nvPr/>
        </p:nvCxnSpPr>
        <p:spPr>
          <a:xfrm>
            <a:off x="40233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5" name="Google Shape;25;p3"/>
          <p:cNvCxnSpPr/>
          <p:nvPr/>
        </p:nvCxnSpPr>
        <p:spPr>
          <a:xfrm>
            <a:off x="45262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" name="Google Shape;26;p3"/>
          <p:cNvCxnSpPr/>
          <p:nvPr/>
        </p:nvCxnSpPr>
        <p:spPr>
          <a:xfrm>
            <a:off x="50292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7" name="Google Shape;27;p3"/>
          <p:cNvCxnSpPr/>
          <p:nvPr/>
        </p:nvCxnSpPr>
        <p:spPr>
          <a:xfrm>
            <a:off x="55321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3"/>
          <p:cNvCxnSpPr/>
          <p:nvPr/>
        </p:nvCxnSpPr>
        <p:spPr>
          <a:xfrm>
            <a:off x="60350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3"/>
          <p:cNvCxnSpPr/>
          <p:nvPr/>
        </p:nvCxnSpPr>
        <p:spPr>
          <a:xfrm>
            <a:off x="65379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0" name="Google Shape;30;p3"/>
          <p:cNvCxnSpPr/>
          <p:nvPr/>
        </p:nvCxnSpPr>
        <p:spPr>
          <a:xfrm>
            <a:off x="70408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1" name="Google Shape;31;p3"/>
          <p:cNvCxnSpPr/>
          <p:nvPr/>
        </p:nvCxnSpPr>
        <p:spPr>
          <a:xfrm>
            <a:off x="754380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2" name="Google Shape;32;p3"/>
          <p:cNvCxnSpPr/>
          <p:nvPr/>
        </p:nvCxnSpPr>
        <p:spPr>
          <a:xfrm>
            <a:off x="804672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3" name="Google Shape;33;p3"/>
          <p:cNvCxnSpPr/>
          <p:nvPr/>
        </p:nvCxnSpPr>
        <p:spPr>
          <a:xfrm>
            <a:off x="854964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4" name="Google Shape;34;p3"/>
          <p:cNvCxnSpPr/>
          <p:nvPr/>
        </p:nvCxnSpPr>
        <p:spPr>
          <a:xfrm>
            <a:off x="905256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3"/>
          <p:cNvCxnSpPr/>
          <p:nvPr/>
        </p:nvCxnSpPr>
        <p:spPr>
          <a:xfrm>
            <a:off x="9555480" y="0"/>
            <a:ext cx="0" cy="514350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3"/>
          <p:cNvCxnSpPr/>
          <p:nvPr/>
        </p:nvCxnSpPr>
        <p:spPr>
          <a:xfrm>
            <a:off x="0" y="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7" name="Google Shape;37;p3"/>
          <p:cNvCxnSpPr/>
          <p:nvPr/>
        </p:nvCxnSpPr>
        <p:spPr>
          <a:xfrm>
            <a:off x="0" y="457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" name="Google Shape;38;p3"/>
          <p:cNvCxnSpPr/>
          <p:nvPr/>
        </p:nvCxnSpPr>
        <p:spPr>
          <a:xfrm>
            <a:off x="0" y="914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9" name="Google Shape;39;p3"/>
          <p:cNvCxnSpPr/>
          <p:nvPr/>
        </p:nvCxnSpPr>
        <p:spPr>
          <a:xfrm>
            <a:off x="0" y="1371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0" name="Google Shape;40;p3"/>
          <p:cNvCxnSpPr/>
          <p:nvPr/>
        </p:nvCxnSpPr>
        <p:spPr>
          <a:xfrm>
            <a:off x="0" y="1828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1" name="Google Shape;41;p3"/>
          <p:cNvCxnSpPr/>
          <p:nvPr/>
        </p:nvCxnSpPr>
        <p:spPr>
          <a:xfrm>
            <a:off x="0" y="2286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2" name="Google Shape;42;p3"/>
          <p:cNvCxnSpPr/>
          <p:nvPr/>
        </p:nvCxnSpPr>
        <p:spPr>
          <a:xfrm>
            <a:off x="0" y="2743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3"/>
          <p:cNvCxnSpPr/>
          <p:nvPr/>
        </p:nvCxnSpPr>
        <p:spPr>
          <a:xfrm>
            <a:off x="0" y="32004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4" name="Google Shape;44;p3"/>
          <p:cNvCxnSpPr/>
          <p:nvPr/>
        </p:nvCxnSpPr>
        <p:spPr>
          <a:xfrm>
            <a:off x="0" y="36576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" name="Google Shape;45;p3"/>
          <p:cNvCxnSpPr/>
          <p:nvPr/>
        </p:nvCxnSpPr>
        <p:spPr>
          <a:xfrm>
            <a:off x="0" y="41148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6" name="Google Shape;46;p3"/>
          <p:cNvCxnSpPr/>
          <p:nvPr/>
        </p:nvCxnSpPr>
        <p:spPr>
          <a:xfrm>
            <a:off x="0" y="45720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" name="Google Shape;47;p3"/>
          <p:cNvCxnSpPr/>
          <p:nvPr/>
        </p:nvCxnSpPr>
        <p:spPr>
          <a:xfrm>
            <a:off x="0" y="5029200"/>
            <a:ext cx="9144000" cy="0"/>
          </a:xfrm>
          <a:prstGeom prst="straightConnector1">
            <a:avLst/>
          </a:prstGeom>
          <a:noFill/>
          <a:ln cap="flat" cmpd="sng" w="9525">
            <a:solidFill>
              <a:srgbClr val="1E293B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3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3"/>
          <p:cNvSpPr/>
          <p:nvPr/>
        </p:nvSpPr>
        <p:spPr>
          <a:xfrm>
            <a:off x="502920" y="640080"/>
            <a:ext cx="8321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Hybrid CPU–GPU Parallelization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02920" y="1417320"/>
            <a:ext cx="832104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2400"/>
              <a:buFont typeface="Calibri"/>
              <a:buNone/>
            </a:pPr>
            <a:r>
              <a:rPr b="0" i="0" lang="en-US" sz="24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of Dijkstra's Algorithm for Large Sparse Graphs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" name="Google Shape;51;p3"/>
          <p:cNvCxnSpPr/>
          <p:nvPr/>
        </p:nvCxnSpPr>
        <p:spPr>
          <a:xfrm>
            <a:off x="502920" y="2121408"/>
            <a:ext cx="6217920" cy="0"/>
          </a:xfrm>
          <a:prstGeom prst="straightConnector1">
            <a:avLst/>
          </a:prstGeom>
          <a:noFill/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2" name="Google Shape;52;p3"/>
          <p:cNvSpPr/>
          <p:nvPr/>
        </p:nvSpPr>
        <p:spPr>
          <a:xfrm>
            <a:off x="502920" y="2331720"/>
            <a:ext cx="141732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3"/>
          <p:cNvSpPr/>
          <p:nvPr/>
        </p:nvSpPr>
        <p:spPr>
          <a:xfrm>
            <a:off x="502920" y="2331720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Graph Type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1993392" y="2331720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Power-Law / RMAT Sparse Graphs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02920" y="2953512"/>
            <a:ext cx="141732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3"/>
          <p:cNvSpPr/>
          <p:nvPr/>
        </p:nvSpPr>
        <p:spPr>
          <a:xfrm>
            <a:off x="502920" y="2953512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 Hardware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3"/>
          <p:cNvSpPr/>
          <p:nvPr/>
        </p:nvSpPr>
        <p:spPr>
          <a:xfrm>
            <a:off x="1993392" y="2953512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NVIDIA Ampere (A100), PCIe Gen4 Host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3"/>
          <p:cNvSpPr/>
          <p:nvPr/>
        </p:nvSpPr>
        <p:spPr>
          <a:xfrm>
            <a:off x="502920" y="3575304"/>
            <a:ext cx="1417320" cy="384048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3"/>
          <p:cNvSpPr/>
          <p:nvPr/>
        </p:nvSpPr>
        <p:spPr>
          <a:xfrm>
            <a:off x="502920" y="3575304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Algorithm Class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"/>
          <p:cNvSpPr/>
          <p:nvPr/>
        </p:nvSpPr>
        <p:spPr>
          <a:xfrm>
            <a:off x="1993392" y="3575304"/>
            <a:ext cx="676656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Single-Source Shortest Path (SSSP)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3"/>
          <p:cNvSpPr/>
          <p:nvPr/>
        </p:nvSpPr>
        <p:spPr>
          <a:xfrm>
            <a:off x="514966" y="4800600"/>
            <a:ext cx="8321100" cy="255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t/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B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4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The Bottleneck: Why Dijkstra's Sequential Model Breaks on GPUs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4"/>
          <p:cNvSpPr/>
          <p:nvPr/>
        </p:nvSpPr>
        <p:spPr>
          <a:xfrm>
            <a:off x="320040" y="960120"/>
            <a:ext cx="4937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4"/>
          <p:cNvSpPr/>
          <p:nvPr/>
        </p:nvSpPr>
        <p:spPr>
          <a:xfrm>
            <a:off x="320040" y="960120"/>
            <a:ext cx="54864" cy="1691640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"/>
          <p:cNvSpPr/>
          <p:nvPr/>
        </p:nvSpPr>
        <p:spPr>
          <a:xfrm>
            <a:off x="502920" y="106984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Irregular Global Memory Access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502920" y="1417320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Dijkstra's greedy extraction follows pointer chains through the adjacency list. On GPU global memory (400–800 cycle latency), non-coalesced loads per warp cost ~32× vs. sequential CPU cache hits.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320040" y="2926080"/>
            <a:ext cx="4937760" cy="1691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4"/>
          <p:cNvSpPr/>
          <p:nvPr/>
        </p:nvSpPr>
        <p:spPr>
          <a:xfrm>
            <a:off x="320040" y="2926080"/>
            <a:ext cx="54864" cy="169164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4"/>
          <p:cNvSpPr/>
          <p:nvPr/>
        </p:nvSpPr>
        <p:spPr>
          <a:xfrm>
            <a:off x="502920" y="3035808"/>
            <a:ext cx="457200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Sequential Priority Queue Bottleneck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4"/>
          <p:cNvSpPr/>
          <p:nvPr/>
        </p:nvSpPr>
        <p:spPr>
          <a:xfrm>
            <a:off x="502920" y="3383280"/>
            <a:ext cx="4572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100"/>
              <a:buFont typeface="Calibri"/>
              <a:buNone/>
            </a:pPr>
            <a:r>
              <a:rPr b="0" i="0" lang="en-US" sz="11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The min-extraction step is inherently serial: only one vertex enters the settled set per iteration. GPU SIMT execution requires per-thread independence—binary heap operations violate this constraint.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5532120" y="960120"/>
            <a:ext cx="3246120" cy="39319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4"/>
          <p:cNvSpPr/>
          <p:nvPr/>
        </p:nvSpPr>
        <p:spPr>
          <a:xfrm>
            <a:off x="5623560" y="1024128"/>
            <a:ext cx="30632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Warp Divergence in Sparse Neighbour Iteration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4"/>
          <p:cNvSpPr/>
          <p:nvPr/>
        </p:nvSpPr>
        <p:spPr>
          <a:xfrm>
            <a:off x="5577840" y="157276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4"/>
          <p:cNvSpPr/>
          <p:nvPr/>
        </p:nvSpPr>
        <p:spPr>
          <a:xfrm>
            <a:off x="5943600" y="1600200"/>
            <a:ext cx="1560576" cy="21945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4"/>
          <p:cNvSpPr/>
          <p:nvPr/>
        </p:nvSpPr>
        <p:spPr>
          <a:xfrm>
            <a:off x="7549896" y="157276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128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4"/>
          <p:cNvSpPr/>
          <p:nvPr/>
        </p:nvSpPr>
        <p:spPr>
          <a:xfrm>
            <a:off x="5577840" y="195681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3" name="Google Shape;83;p4"/>
          <p:cNvSpPr/>
          <p:nvPr/>
        </p:nvSpPr>
        <p:spPr>
          <a:xfrm>
            <a:off x="5943600" y="1984248"/>
            <a:ext cx="36576" cy="21945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4"/>
          <p:cNvSpPr/>
          <p:nvPr/>
        </p:nvSpPr>
        <p:spPr>
          <a:xfrm>
            <a:off x="6025896" y="195681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4"/>
          <p:cNvSpPr/>
          <p:nvPr/>
        </p:nvSpPr>
        <p:spPr>
          <a:xfrm>
            <a:off x="5577840" y="234086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4"/>
          <p:cNvSpPr/>
          <p:nvPr/>
        </p:nvSpPr>
        <p:spPr>
          <a:xfrm>
            <a:off x="5943600" y="2368296"/>
            <a:ext cx="573024" cy="219456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4"/>
          <p:cNvSpPr/>
          <p:nvPr/>
        </p:nvSpPr>
        <p:spPr>
          <a:xfrm>
            <a:off x="6562344" y="234086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4"/>
          <p:cNvSpPr/>
          <p:nvPr/>
        </p:nvSpPr>
        <p:spPr>
          <a:xfrm>
            <a:off x="5577840" y="2724912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4"/>
          <p:cNvSpPr/>
          <p:nvPr/>
        </p:nvSpPr>
        <p:spPr>
          <a:xfrm>
            <a:off x="5943600" y="2752344"/>
            <a:ext cx="12192" cy="21945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4"/>
          <p:cNvSpPr/>
          <p:nvPr/>
        </p:nvSpPr>
        <p:spPr>
          <a:xfrm>
            <a:off x="6001512" y="2724912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4"/>
          <p:cNvSpPr/>
          <p:nvPr/>
        </p:nvSpPr>
        <p:spPr>
          <a:xfrm>
            <a:off x="5577840" y="3108960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4"/>
          <p:cNvSpPr/>
          <p:nvPr/>
        </p:nvSpPr>
        <p:spPr>
          <a:xfrm>
            <a:off x="5943600" y="3136392"/>
            <a:ext cx="1109472" cy="219456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4"/>
          <p:cNvSpPr/>
          <p:nvPr/>
        </p:nvSpPr>
        <p:spPr>
          <a:xfrm>
            <a:off x="7098792" y="3108960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91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4"/>
          <p:cNvSpPr/>
          <p:nvPr/>
        </p:nvSpPr>
        <p:spPr>
          <a:xfrm>
            <a:off x="5577840" y="3493008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4"/>
          <p:cNvSpPr/>
          <p:nvPr/>
        </p:nvSpPr>
        <p:spPr>
          <a:xfrm>
            <a:off x="5943600" y="3520440"/>
            <a:ext cx="97536" cy="219456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4"/>
          <p:cNvSpPr/>
          <p:nvPr/>
        </p:nvSpPr>
        <p:spPr>
          <a:xfrm>
            <a:off x="6086856" y="3493008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4"/>
          <p:cNvSpPr/>
          <p:nvPr/>
        </p:nvSpPr>
        <p:spPr>
          <a:xfrm>
            <a:off x="5577840" y="3877056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4"/>
          <p:cNvSpPr/>
          <p:nvPr/>
        </p:nvSpPr>
        <p:spPr>
          <a:xfrm>
            <a:off x="5943600" y="3904488"/>
            <a:ext cx="2560320" cy="219456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4"/>
          <p:cNvSpPr/>
          <p:nvPr/>
        </p:nvSpPr>
        <p:spPr>
          <a:xfrm>
            <a:off x="8549640" y="3877056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210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"/>
          <p:cNvSpPr/>
          <p:nvPr/>
        </p:nvSpPr>
        <p:spPr>
          <a:xfrm>
            <a:off x="5577840" y="4261104"/>
            <a:ext cx="3200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4"/>
          <p:cNvSpPr/>
          <p:nvPr/>
        </p:nvSpPr>
        <p:spPr>
          <a:xfrm>
            <a:off x="5943600" y="4288536"/>
            <a:ext cx="48768" cy="219456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"/>
          <p:cNvSpPr/>
          <p:nvPr/>
        </p:nvSpPr>
        <p:spPr>
          <a:xfrm>
            <a:off x="6038088" y="4261104"/>
            <a:ext cx="457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4"/>
          <p:cNvSpPr/>
          <p:nvPr/>
        </p:nvSpPr>
        <p:spPr>
          <a:xfrm>
            <a:off x="5577840" y="4572000"/>
            <a:ext cx="320040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1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Thread degree (active edges)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4"/>
          <p:cNvSpPr/>
          <p:nvPr/>
        </p:nvSpPr>
        <p:spPr>
          <a:xfrm>
            <a:off x="5577840" y="4754880"/>
            <a:ext cx="320040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T6 forces entire warp to stall for 210 iterations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B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5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Data Layout: Transitioning to CSR/CSC for GPU Memory Locality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5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5"/>
          <p:cNvSpPr/>
          <p:nvPr/>
        </p:nvSpPr>
        <p:spPr>
          <a:xfrm>
            <a:off x="320040" y="960120"/>
            <a:ext cx="8503920" cy="19202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5"/>
          <p:cNvSpPr/>
          <p:nvPr/>
        </p:nvSpPr>
        <p:spPr>
          <a:xfrm>
            <a:off x="457200" y="10515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Compressed Sparse Row (CSR) – GPU Device Memory Layout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5"/>
          <p:cNvSpPr/>
          <p:nvPr/>
        </p:nvSpPr>
        <p:spPr>
          <a:xfrm>
            <a:off x="457200" y="15087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onsolas"/>
                <a:ea typeface="Consolas"/>
                <a:cs typeface="Consolas"/>
                <a:sym typeface="Consolas"/>
              </a:rPr>
              <a:t>row_ptr[]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5"/>
          <p:cNvSpPr/>
          <p:nvPr/>
        </p:nvSpPr>
        <p:spPr>
          <a:xfrm>
            <a:off x="1737360" y="1527048"/>
            <a:ext cx="594360" cy="301752"/>
          </a:xfrm>
          <a:prstGeom prst="rect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5"/>
          <p:cNvSpPr/>
          <p:nvPr/>
        </p:nvSpPr>
        <p:spPr>
          <a:xfrm>
            <a:off x="1737360" y="15270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5"/>
          <p:cNvSpPr/>
          <p:nvPr/>
        </p:nvSpPr>
        <p:spPr>
          <a:xfrm>
            <a:off x="2377440" y="1527048"/>
            <a:ext cx="594360" cy="301752"/>
          </a:xfrm>
          <a:prstGeom prst="rect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"/>
          <p:cNvSpPr/>
          <p:nvPr/>
        </p:nvSpPr>
        <p:spPr>
          <a:xfrm>
            <a:off x="2377440" y="15270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5"/>
          <p:cNvSpPr/>
          <p:nvPr/>
        </p:nvSpPr>
        <p:spPr>
          <a:xfrm>
            <a:off x="3017520" y="1527048"/>
            <a:ext cx="594360" cy="301752"/>
          </a:xfrm>
          <a:prstGeom prst="rect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"/>
          <p:cNvSpPr/>
          <p:nvPr/>
        </p:nvSpPr>
        <p:spPr>
          <a:xfrm>
            <a:off x="3017520" y="15270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5"/>
          <p:cNvSpPr/>
          <p:nvPr/>
        </p:nvSpPr>
        <p:spPr>
          <a:xfrm>
            <a:off x="3657600" y="1527048"/>
            <a:ext cx="594360" cy="301752"/>
          </a:xfrm>
          <a:prstGeom prst="rect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3657600" y="15270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/>
          <p:nvPr/>
        </p:nvSpPr>
        <p:spPr>
          <a:xfrm>
            <a:off x="4297680" y="1527048"/>
            <a:ext cx="594360" cy="301752"/>
          </a:xfrm>
          <a:prstGeom prst="rect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5"/>
          <p:cNvSpPr/>
          <p:nvPr/>
        </p:nvSpPr>
        <p:spPr>
          <a:xfrm>
            <a:off x="4297680" y="15270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8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5"/>
          <p:cNvSpPr/>
          <p:nvPr/>
        </p:nvSpPr>
        <p:spPr>
          <a:xfrm>
            <a:off x="4937760" y="1527048"/>
            <a:ext cx="594360" cy="301752"/>
          </a:xfrm>
          <a:prstGeom prst="rect">
            <a:avLst/>
          </a:prstGeom>
          <a:solidFill>
            <a:srgbClr val="3B82F6">
              <a:alpha val="14901"/>
            </a:srgbClr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5"/>
          <p:cNvSpPr/>
          <p:nvPr/>
        </p:nvSpPr>
        <p:spPr>
          <a:xfrm>
            <a:off x="4937760" y="15270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5"/>
          <p:cNvSpPr/>
          <p:nvPr/>
        </p:nvSpPr>
        <p:spPr>
          <a:xfrm>
            <a:off x="457200" y="19659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onsolas"/>
                <a:ea typeface="Consolas"/>
                <a:cs typeface="Consolas"/>
                <a:sym typeface="Consolas"/>
              </a:rPr>
              <a:t>col_idx[]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5"/>
          <p:cNvSpPr/>
          <p:nvPr/>
        </p:nvSpPr>
        <p:spPr>
          <a:xfrm>
            <a:off x="173736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"/>
          <p:cNvSpPr/>
          <p:nvPr/>
        </p:nvSpPr>
        <p:spPr>
          <a:xfrm>
            <a:off x="173736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5"/>
          <p:cNvSpPr/>
          <p:nvPr/>
        </p:nvSpPr>
        <p:spPr>
          <a:xfrm>
            <a:off x="237744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5"/>
          <p:cNvSpPr/>
          <p:nvPr/>
        </p:nvSpPr>
        <p:spPr>
          <a:xfrm>
            <a:off x="237744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5"/>
          <p:cNvSpPr/>
          <p:nvPr/>
        </p:nvSpPr>
        <p:spPr>
          <a:xfrm>
            <a:off x="301752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"/>
          <p:cNvSpPr/>
          <p:nvPr/>
        </p:nvSpPr>
        <p:spPr>
          <a:xfrm>
            <a:off x="301752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5"/>
          <p:cNvSpPr/>
          <p:nvPr/>
        </p:nvSpPr>
        <p:spPr>
          <a:xfrm>
            <a:off x="365760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5"/>
          <p:cNvSpPr/>
          <p:nvPr/>
        </p:nvSpPr>
        <p:spPr>
          <a:xfrm>
            <a:off x="365760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5"/>
          <p:cNvSpPr/>
          <p:nvPr/>
        </p:nvSpPr>
        <p:spPr>
          <a:xfrm>
            <a:off x="429768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"/>
          <p:cNvSpPr/>
          <p:nvPr/>
        </p:nvSpPr>
        <p:spPr>
          <a:xfrm>
            <a:off x="429768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5"/>
          <p:cNvSpPr/>
          <p:nvPr/>
        </p:nvSpPr>
        <p:spPr>
          <a:xfrm>
            <a:off x="493776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5"/>
          <p:cNvSpPr/>
          <p:nvPr/>
        </p:nvSpPr>
        <p:spPr>
          <a:xfrm>
            <a:off x="493776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5"/>
          <p:cNvSpPr/>
          <p:nvPr/>
        </p:nvSpPr>
        <p:spPr>
          <a:xfrm>
            <a:off x="557784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"/>
          <p:cNvSpPr/>
          <p:nvPr/>
        </p:nvSpPr>
        <p:spPr>
          <a:xfrm>
            <a:off x="557784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"/>
          <p:cNvSpPr/>
          <p:nvPr/>
        </p:nvSpPr>
        <p:spPr>
          <a:xfrm>
            <a:off x="621792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"/>
          <p:cNvSpPr/>
          <p:nvPr/>
        </p:nvSpPr>
        <p:spPr>
          <a:xfrm>
            <a:off x="621792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5"/>
          <p:cNvSpPr/>
          <p:nvPr/>
        </p:nvSpPr>
        <p:spPr>
          <a:xfrm>
            <a:off x="685800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685800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/>
          <p:nvPr/>
        </p:nvSpPr>
        <p:spPr>
          <a:xfrm>
            <a:off x="7498080" y="1984248"/>
            <a:ext cx="594360" cy="301752"/>
          </a:xfrm>
          <a:prstGeom prst="rect">
            <a:avLst/>
          </a:prstGeom>
          <a:solidFill>
            <a:srgbClr val="06B6D4">
              <a:alpha val="14901"/>
            </a:srgbClr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5"/>
          <p:cNvSpPr/>
          <p:nvPr/>
        </p:nvSpPr>
        <p:spPr>
          <a:xfrm>
            <a:off x="7498080" y="19842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457200" y="2423160"/>
            <a:ext cx="11887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000"/>
              <a:buFont typeface="Consolas"/>
              <a:buNone/>
            </a:pPr>
            <a:r>
              <a:rPr b="1" i="0" lang="en-US" sz="1000" u="none" cap="none" strike="noStrike">
                <a:solidFill>
                  <a:srgbClr val="F97316"/>
                </a:solidFill>
                <a:latin typeface="Consolas"/>
                <a:ea typeface="Consolas"/>
                <a:cs typeface="Consolas"/>
                <a:sym typeface="Consolas"/>
              </a:rPr>
              <a:t>weights[]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173736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173736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2.1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5"/>
          <p:cNvSpPr/>
          <p:nvPr/>
        </p:nvSpPr>
        <p:spPr>
          <a:xfrm>
            <a:off x="237744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5"/>
          <p:cNvSpPr/>
          <p:nvPr/>
        </p:nvSpPr>
        <p:spPr>
          <a:xfrm>
            <a:off x="237744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301752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301752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3.7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365760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6" name="Google Shape;156;p5"/>
          <p:cNvSpPr/>
          <p:nvPr/>
        </p:nvSpPr>
        <p:spPr>
          <a:xfrm>
            <a:off x="365760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2.1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29768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"/>
          <p:cNvSpPr/>
          <p:nvPr/>
        </p:nvSpPr>
        <p:spPr>
          <a:xfrm>
            <a:off x="429768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1.9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93776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5"/>
          <p:cNvSpPr/>
          <p:nvPr/>
        </p:nvSpPr>
        <p:spPr>
          <a:xfrm>
            <a:off x="493776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0.5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557784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5"/>
          <p:cNvSpPr/>
          <p:nvPr/>
        </p:nvSpPr>
        <p:spPr>
          <a:xfrm>
            <a:off x="557784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1.2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621792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621792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4.4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5"/>
          <p:cNvSpPr/>
          <p:nvPr/>
        </p:nvSpPr>
        <p:spPr>
          <a:xfrm>
            <a:off x="685800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5"/>
          <p:cNvSpPr/>
          <p:nvPr/>
        </p:nvSpPr>
        <p:spPr>
          <a:xfrm>
            <a:off x="685800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3.7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7498080" y="2441448"/>
            <a:ext cx="594360" cy="301752"/>
          </a:xfrm>
          <a:prstGeom prst="rect">
            <a:avLst/>
          </a:prstGeom>
          <a:solidFill>
            <a:srgbClr val="F97316">
              <a:alpha val="14901"/>
            </a:srgbClr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7498080" y="2441448"/>
            <a:ext cx="594360" cy="3017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900"/>
              <a:buFont typeface="Consolas"/>
              <a:buNone/>
            </a:pPr>
            <a:r>
              <a:rPr b="0" i="0" lang="en-US" sz="900" u="none" cap="none" strike="noStrike">
                <a:solidFill>
                  <a:srgbClr val="1E293B"/>
                </a:solidFill>
                <a:latin typeface="Consolas"/>
                <a:ea typeface="Consolas"/>
                <a:cs typeface="Consolas"/>
                <a:sym typeface="Consolas"/>
              </a:rPr>
              <a:t>4.4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20040" y="3063240"/>
            <a:ext cx="274320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5"/>
          <p:cNvSpPr/>
          <p:nvPr/>
        </p:nvSpPr>
        <p:spPr>
          <a:xfrm>
            <a:off x="320040" y="3063240"/>
            <a:ext cx="54864" cy="1874520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5"/>
          <p:cNvSpPr/>
          <p:nvPr/>
        </p:nvSpPr>
        <p:spPr>
          <a:xfrm>
            <a:off x="502920" y="31546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Memory Footprint Reduction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502920" y="352044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Dense adjacency matrix for V=10⁶ nodes → 10¹² entries at 8B each = 8 TB. CSR stores only non-zeros: O(E) space. For power-law graphs, E ≈ 10–50×V; memory drops to ~400 MB for E=50M edges.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264408" y="3063240"/>
            <a:ext cx="274320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5"/>
          <p:cNvSpPr/>
          <p:nvPr/>
        </p:nvSpPr>
        <p:spPr>
          <a:xfrm>
            <a:off x="3264408" y="3063240"/>
            <a:ext cx="54864" cy="18745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5"/>
          <p:cNvSpPr/>
          <p:nvPr/>
        </p:nvSpPr>
        <p:spPr>
          <a:xfrm>
            <a:off x="3447288" y="31546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Coalesced Access via CSR Row Offsets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447288" y="352044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Threads in a warp process the same row's edge segment: col_idx[row_ptr[v]..row_ptr[v+1]]. Consecutive threads access consecutive memory addresses → satisfies GPU coalescing at 128-byte cache-line granularity.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6208776" y="3063240"/>
            <a:ext cx="2743200" cy="18745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6208776" y="3063240"/>
            <a:ext cx="54864" cy="1874520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391656" y="3154680"/>
            <a:ext cx="242316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CSC for Incoming-Edge Queries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391656" y="3520440"/>
            <a:ext cx="242316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Column-major variant used in delta-stepping for reverse BFS passes. Maintained in parallel on device; column pointers serve GPU kernel that computes in-degree for load-balancing during work-stealing.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6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The Hybrid Architecture: CPU-Led Scheduling + GPU-Accelerated Relaxation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6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6"/>
          <p:cNvSpPr/>
          <p:nvPr/>
        </p:nvSpPr>
        <p:spPr>
          <a:xfrm>
            <a:off x="320040" y="914400"/>
            <a:ext cx="3474720" cy="3931920"/>
          </a:xfrm>
          <a:prstGeom prst="rect">
            <a:avLst/>
          </a:prstGeom>
          <a:solidFill>
            <a:srgbClr val="111827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6"/>
          <p:cNvSpPr/>
          <p:nvPr/>
        </p:nvSpPr>
        <p:spPr>
          <a:xfrm>
            <a:off x="320040" y="914400"/>
            <a:ext cx="34747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CPU Thread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6"/>
          <p:cNvSpPr/>
          <p:nvPr/>
        </p:nvSpPr>
        <p:spPr>
          <a:xfrm>
            <a:off x="457200" y="1417320"/>
            <a:ext cx="3200400" cy="475488"/>
          </a:xfrm>
          <a:prstGeom prst="rect">
            <a:avLst/>
          </a:prstGeom>
          <a:solidFill>
            <a:srgbClr val="1C2333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6"/>
          <p:cNvSpPr/>
          <p:nvPr/>
        </p:nvSpPr>
        <p:spPr>
          <a:xfrm>
            <a:off x="502920" y="1435608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Maintains binary heap / Radix bucket for settled set S and tentative distances d[]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6"/>
          <p:cNvSpPr/>
          <p:nvPr/>
        </p:nvSpPr>
        <p:spPr>
          <a:xfrm>
            <a:off x="457200" y="1984248"/>
            <a:ext cx="3200400" cy="475488"/>
          </a:xfrm>
          <a:prstGeom prst="rect">
            <a:avLst/>
          </a:prstGeom>
          <a:solidFill>
            <a:srgbClr val="1C2333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6"/>
          <p:cNvSpPr/>
          <p:nvPr/>
        </p:nvSpPr>
        <p:spPr>
          <a:xfrm>
            <a:off x="502920" y="2002536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Extracts min-distance vertex u from priority queue (sequential, O(log V))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6"/>
          <p:cNvSpPr/>
          <p:nvPr/>
        </p:nvSpPr>
        <p:spPr>
          <a:xfrm>
            <a:off x="457200" y="2551176"/>
            <a:ext cx="3200400" cy="475488"/>
          </a:xfrm>
          <a:prstGeom prst="rect">
            <a:avLst/>
          </a:prstGeom>
          <a:solidFill>
            <a:srgbClr val="1C2333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6"/>
          <p:cNvSpPr/>
          <p:nvPr/>
        </p:nvSpPr>
        <p:spPr>
          <a:xfrm>
            <a:off x="502920" y="2569464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Classifies u: HIGH-degree (≥ threshold θ) → offload to GPU; LOW-degree → relax locally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"/>
          <p:cNvSpPr/>
          <p:nvPr/>
        </p:nvSpPr>
        <p:spPr>
          <a:xfrm>
            <a:off x="457200" y="3118104"/>
            <a:ext cx="3200400" cy="475488"/>
          </a:xfrm>
          <a:prstGeom prst="rect">
            <a:avLst/>
          </a:prstGeom>
          <a:solidFill>
            <a:srgbClr val="1C2333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"/>
          <p:cNvSpPr/>
          <p:nvPr/>
        </p:nvSpPr>
        <p:spPr>
          <a:xfrm>
            <a:off x="502920" y="3136392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Applies static partitioning at init; switches to work-stealing when GPU queue drains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6"/>
          <p:cNvSpPr/>
          <p:nvPr/>
        </p:nvSpPr>
        <p:spPr>
          <a:xfrm>
            <a:off x="457200" y="3685032"/>
            <a:ext cx="3200400" cy="475488"/>
          </a:xfrm>
          <a:prstGeom prst="rect">
            <a:avLst/>
          </a:prstGeom>
          <a:solidFill>
            <a:srgbClr val="1C2333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502920" y="3703320"/>
            <a:ext cx="31089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Handles graph partitions that exceed GPU VRAM via pinned host memory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0" name="Google Shape;200;p6"/>
          <p:cNvCxnSpPr/>
          <p:nvPr/>
        </p:nvCxnSpPr>
        <p:spPr>
          <a:xfrm>
            <a:off x="3822192" y="2103120"/>
            <a:ext cx="1353312" cy="0"/>
          </a:xfrm>
          <a:prstGeom prst="straightConnector1">
            <a:avLst/>
          </a:prstGeom>
          <a:noFill/>
          <a:ln cap="flat" cmpd="sng" w="254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1" name="Google Shape;201;p6"/>
          <p:cNvSpPr/>
          <p:nvPr/>
        </p:nvSpPr>
        <p:spPr>
          <a:xfrm>
            <a:off x="3794760" y="1874520"/>
            <a:ext cx="14173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PCIe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Dispatch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2" name="Google Shape;202;p6"/>
          <p:cNvCxnSpPr/>
          <p:nvPr/>
        </p:nvCxnSpPr>
        <p:spPr>
          <a:xfrm>
            <a:off x="3822192" y="3383280"/>
            <a:ext cx="1353312" cy="0"/>
          </a:xfrm>
          <a:prstGeom prst="straightConnector1">
            <a:avLst/>
          </a:prstGeom>
          <a:noFill/>
          <a:ln cap="flat" cmpd="sng" w="254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03" name="Google Shape;203;p6"/>
          <p:cNvSpPr/>
          <p:nvPr/>
        </p:nvSpPr>
        <p:spPr>
          <a:xfrm>
            <a:off x="3794760" y="3493008"/>
            <a:ext cx="141732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Relax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Results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5212080" y="914400"/>
            <a:ext cx="3611880" cy="3931920"/>
          </a:xfrm>
          <a:prstGeom prst="rect">
            <a:avLst/>
          </a:prstGeom>
          <a:solidFill>
            <a:srgbClr val="111827"/>
          </a:solidFill>
          <a:ln cap="flat" cmpd="sng" w="1905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6"/>
          <p:cNvSpPr/>
          <p:nvPr/>
        </p:nvSpPr>
        <p:spPr>
          <a:xfrm>
            <a:off x="5212080" y="914400"/>
            <a:ext cx="361188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300"/>
              <a:buFont typeface="Calibri"/>
              <a:buNone/>
            </a:pPr>
            <a:r>
              <a:rPr b="1" i="0" lang="en-US" sz="13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GPU SIMT Cores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5349240" y="1417320"/>
            <a:ext cx="333756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5394960" y="1435608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Receives frontier batch F = {high-degree vertices} via cudaMemcpyAsync to device buffer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6"/>
          <p:cNvSpPr/>
          <p:nvPr/>
        </p:nvSpPr>
        <p:spPr>
          <a:xfrm>
            <a:off x="5349240" y="1984248"/>
            <a:ext cx="333756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p6"/>
          <p:cNvSpPr/>
          <p:nvPr/>
        </p:nvSpPr>
        <p:spPr>
          <a:xfrm>
            <a:off x="5394960" y="2002536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Reads CSR row_ptr / col_idx for each v ∈ F; each SM handles one vertex's edge list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5349240" y="2551176"/>
            <a:ext cx="333756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5394960" y="2569464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Issues parallel edge relaxation: atomicMin(d[w], d[v] + wt[e]) across all neighbours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6"/>
          <p:cNvSpPr/>
          <p:nvPr/>
        </p:nvSpPr>
        <p:spPr>
          <a:xfrm>
            <a:off x="5349240" y="3118104"/>
            <a:ext cx="333756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6"/>
          <p:cNvSpPr/>
          <p:nvPr/>
        </p:nvSpPr>
        <p:spPr>
          <a:xfrm>
            <a:off x="5394960" y="3136392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Compacts updated vertices into next-frontier using CUB::DeviceSelect::If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5349240" y="3685032"/>
            <a:ext cx="3337560" cy="475488"/>
          </a:xfrm>
          <a:prstGeom prst="rect">
            <a:avLst/>
          </a:prstGeom>
          <a:solidFill>
            <a:srgbClr val="0D2137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5394960" y="3703320"/>
            <a:ext cx="3246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Returns updated d[] slice and next-frontier set to CPU via async transfer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6"/>
          <p:cNvSpPr/>
          <p:nvPr/>
        </p:nvSpPr>
        <p:spPr>
          <a:xfrm>
            <a:off x="320040" y="4864608"/>
            <a:ext cx="850392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t/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B"/>
        </a:solidFill>
      </p:bgPr>
    </p:bg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7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Kernel Optimization: Frontier Management and Atomic Contention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7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7"/>
          <p:cNvSpPr/>
          <p:nvPr/>
        </p:nvSpPr>
        <p:spPr>
          <a:xfrm>
            <a:off x="320040" y="960120"/>
            <a:ext cx="4114800" cy="3977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457200" y="1042416"/>
            <a:ext cx="384048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Frontier Representation Tradeoffs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26" name="Google Shape;226;p7"/>
          <p:cNvGraphicFramePr/>
          <p:nvPr/>
        </p:nvGraphicFramePr>
        <p:xfrm>
          <a:off x="457200" y="14173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{1C45AF0B-9F94-4340-B1D4-A8D3CD2AF3D4}</a:tableStyleId>
              </a:tblPr>
              <a:tblGrid>
                <a:gridCol w="1249675"/>
                <a:gridCol w="1249675"/>
                <a:gridCol w="1249675"/>
              </a:tblGrid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Type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Advantage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FFFFFF"/>
                        </a:buClr>
                        <a:buSzPts val="1000"/>
                        <a:buFont typeface="Calibri"/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B82F6"/>
                    </a:solidFill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Vertex List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Cache-efficient compact iter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Rebuild cost each round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Bitmask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O(1) membership test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V/64 words scanned regardless of density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Worklist Queue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Producer-consumer with CUB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E293B"/>
                        </a:buClr>
                        <a:buSzPts val="1000"/>
                        <a:buFont typeface="Calibri"/>
                        <a:buNone/>
                      </a:pPr>
                      <a:r>
                        <a:rPr lang="en-US" sz="1000" u="none" cap="none" strike="noStrike">
                          <a:solidFill>
                            <a:srgbClr val="1E293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Atomic enqueue contention at hubs</a:t>
                      </a:r>
                      <a:endParaRPr sz="1000" u="none" cap="none" strike="noStrik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T="45725" marB="45725" marR="91450" marL="91450">
                    <a:lnL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E2E8F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7" name="Google Shape;227;p7"/>
          <p:cNvSpPr/>
          <p:nvPr/>
        </p:nvSpPr>
        <p:spPr>
          <a:xfrm>
            <a:off x="320040" y="3017520"/>
            <a:ext cx="54864" cy="1874520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7"/>
          <p:cNvSpPr/>
          <p:nvPr/>
        </p:nvSpPr>
        <p:spPr>
          <a:xfrm>
            <a:off x="548640" y="3090672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Adopted Strategy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7"/>
          <p:cNvSpPr/>
          <p:nvPr/>
        </p:nvSpPr>
        <p:spPr>
          <a:xfrm>
            <a:off x="548640" y="3383280"/>
            <a:ext cx="356616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1000"/>
              <a:buFont typeface="Calibri"/>
              <a:buNone/>
            </a:pPr>
            <a:r>
              <a:rPr b="0" i="0" lang="en-US" sz="100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Two-phase approach: expand frontier with bitmask (avoids duplicate enqueue), then compact to vertex list via CUB::DeviceSelect::If before kernel launch. Saves 35–60% redundant thread work on dense frontier rounds.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7"/>
          <p:cNvSpPr/>
          <p:nvPr/>
        </p:nvSpPr>
        <p:spPr>
          <a:xfrm>
            <a:off x="4663440" y="960120"/>
            <a:ext cx="4160520" cy="39776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7"/>
          <p:cNvSpPr/>
          <p:nvPr/>
        </p:nvSpPr>
        <p:spPr>
          <a:xfrm>
            <a:off x="4800600" y="1042416"/>
            <a:ext cx="388620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200"/>
              <a:buFont typeface="Calibri"/>
              <a:buNone/>
            </a:pPr>
            <a:r>
              <a:rPr b="1" i="0" lang="en-US" sz="1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Atomic Operations: Contention vs. Correctness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7"/>
          <p:cNvSpPr/>
          <p:nvPr/>
        </p:nvSpPr>
        <p:spPr>
          <a:xfrm>
            <a:off x="4663440" y="1417320"/>
            <a:ext cx="54864" cy="1078992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7"/>
          <p:cNvSpPr/>
          <p:nvPr/>
        </p:nvSpPr>
        <p:spPr>
          <a:xfrm>
            <a:off x="4846320" y="1472184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atomicMin() on distance array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7"/>
          <p:cNvSpPr/>
          <p:nvPr/>
        </p:nvSpPr>
        <p:spPr>
          <a:xfrm>
            <a:off x="4846320" y="1728216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Used for tentative distance updates. On A100 global memory, uncontested atomicMin costs ~20 cycles. At power-law hubs (in-degree &gt; 10k), same address hammered by thousands of threads → serialized into atomic queue: measured ~4–8 µs per high-degree node.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7"/>
          <p:cNvSpPr/>
          <p:nvPr/>
        </p:nvSpPr>
        <p:spPr>
          <a:xfrm>
            <a:off x="4663440" y="2587752"/>
            <a:ext cx="54864" cy="1078992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7"/>
          <p:cNvSpPr/>
          <p:nvPr/>
        </p:nvSpPr>
        <p:spPr>
          <a:xfrm>
            <a:off x="4846320" y="2642616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Mitigation: Warp-Level Reduction First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4846320" y="2898648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__reduce_min_sync() reduces 32 threads to one candidate before issuing atomicMin. Cuts atomic traffic by ~30× for hub nodes. Combined with L2-local atomics (requires sm_80+ capability).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4663440" y="3758184"/>
            <a:ext cx="54864" cy="107899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4846320" y="3813048"/>
            <a:ext cx="384048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1050"/>
              <a:buFont typeface="Calibri"/>
              <a:buNone/>
            </a:pPr>
            <a:r>
              <a:rPr b="1" i="0" lang="en-US" sz="105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atomicAdd() for Frontier Counter</a:t>
            </a:r>
            <a:endParaRPr b="0" i="0" sz="10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7"/>
          <p:cNvSpPr/>
          <p:nvPr/>
        </p:nvSpPr>
        <p:spPr>
          <a:xfrm>
            <a:off x="4846320" y="4069080"/>
            <a:ext cx="3840480" cy="7132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Next-frontier worklist uses a global counter with atomicAdd. Predictable contention: one add per activated vertex. Coalescing 32 activations per warp via ballot_sync + popc reduces calls by 32×.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8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Synchronization &amp; Latency: CPU–GPU Communication Cost over PCIe Gen4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8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8"/>
          <p:cNvSpPr/>
          <p:nvPr/>
        </p:nvSpPr>
        <p:spPr>
          <a:xfrm>
            <a:off x="320040" y="960120"/>
            <a:ext cx="2788920" cy="960120"/>
          </a:xfrm>
          <a:prstGeom prst="rect">
            <a:avLst/>
          </a:prstGeom>
          <a:solidFill>
            <a:srgbClr val="111827"/>
          </a:solidFill>
          <a:ln cap="flat" cmpd="sng" w="1905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8"/>
          <p:cNvSpPr/>
          <p:nvPr/>
        </p:nvSpPr>
        <p:spPr>
          <a:xfrm>
            <a:off x="320040" y="1005840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~16 GB/s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8"/>
          <p:cNvSpPr/>
          <p:nvPr/>
        </p:nvSpPr>
        <p:spPr>
          <a:xfrm>
            <a:off x="411480" y="141732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PCIe Gen4 x16 Bandwidth (bidirectional)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8"/>
          <p:cNvSpPr/>
          <p:nvPr/>
        </p:nvSpPr>
        <p:spPr>
          <a:xfrm>
            <a:off x="3264408" y="960120"/>
            <a:ext cx="2788920" cy="960120"/>
          </a:xfrm>
          <a:prstGeom prst="rect">
            <a:avLst/>
          </a:prstGeom>
          <a:solidFill>
            <a:srgbClr val="111827"/>
          </a:solidFill>
          <a:ln cap="flat" cmpd="sng" w="1905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8"/>
          <p:cNvSpPr/>
          <p:nvPr/>
        </p:nvSpPr>
        <p:spPr>
          <a:xfrm>
            <a:off x="3264408" y="1005840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~5–8 µs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8"/>
          <p:cNvSpPr/>
          <p:nvPr/>
        </p:nvSpPr>
        <p:spPr>
          <a:xfrm>
            <a:off x="3355848" y="141732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cudaMemcpyAsync DMA launch overhead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8"/>
          <p:cNvSpPr/>
          <p:nvPr/>
        </p:nvSpPr>
        <p:spPr>
          <a:xfrm>
            <a:off x="6208776" y="960120"/>
            <a:ext cx="2788920" cy="960120"/>
          </a:xfrm>
          <a:prstGeom prst="rect">
            <a:avLst/>
          </a:prstGeom>
          <a:solidFill>
            <a:srgbClr val="111827"/>
          </a:solidFill>
          <a:ln cap="flat" cmpd="sng" w="1905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8"/>
          <p:cNvSpPr/>
          <p:nvPr/>
        </p:nvSpPr>
        <p:spPr>
          <a:xfrm>
            <a:off x="6208776" y="1005840"/>
            <a:ext cx="27889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~1–2 ms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8"/>
          <p:cNvSpPr/>
          <p:nvPr/>
        </p:nvSpPr>
        <p:spPr>
          <a:xfrm>
            <a:off x="6300216" y="1417320"/>
            <a:ext cx="260604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CPU-side synchronisation call (cudaStreamSync)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8"/>
          <p:cNvSpPr/>
          <p:nvPr/>
        </p:nvSpPr>
        <p:spPr>
          <a:xfrm>
            <a:off x="320040" y="2084832"/>
            <a:ext cx="8503920" cy="1389888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8"/>
          <p:cNvSpPr/>
          <p:nvPr/>
        </p:nvSpPr>
        <p:spPr>
          <a:xfrm>
            <a:off x="502920" y="2395728"/>
            <a:ext cx="1280160" cy="47548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8"/>
          <p:cNvSpPr/>
          <p:nvPr/>
        </p:nvSpPr>
        <p:spPr>
          <a:xfrm>
            <a:off x="502920" y="2395728"/>
            <a:ext cx="12801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CPU: extract min(PQ)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8"/>
          <p:cNvSpPr/>
          <p:nvPr/>
        </p:nvSpPr>
        <p:spPr>
          <a:xfrm>
            <a:off x="1828800" y="2395728"/>
            <a:ext cx="822960" cy="47548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8"/>
          <p:cNvSpPr/>
          <p:nvPr/>
        </p:nvSpPr>
        <p:spPr>
          <a:xfrm>
            <a:off x="1828800" y="2395728"/>
            <a:ext cx="8229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DMA copy frontier→GPU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8"/>
          <p:cNvSpPr/>
          <p:nvPr/>
        </p:nvSpPr>
        <p:spPr>
          <a:xfrm>
            <a:off x="2697480" y="2395728"/>
            <a:ext cx="2834640" cy="475488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8"/>
          <p:cNvSpPr/>
          <p:nvPr/>
        </p:nvSpPr>
        <p:spPr>
          <a:xfrm>
            <a:off x="2697480" y="2395728"/>
            <a:ext cx="283464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GPU kernel: relax edges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8"/>
          <p:cNvSpPr/>
          <p:nvPr/>
        </p:nvSpPr>
        <p:spPr>
          <a:xfrm>
            <a:off x="5577840" y="2395728"/>
            <a:ext cx="640080" cy="475488"/>
          </a:xfrm>
          <a:prstGeom prst="rect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8"/>
          <p:cNvSpPr/>
          <p:nvPr/>
        </p:nvSpPr>
        <p:spPr>
          <a:xfrm>
            <a:off x="5577840" y="2395728"/>
            <a:ext cx="6400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DMA results→CPU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8"/>
          <p:cNvSpPr/>
          <p:nvPr/>
        </p:nvSpPr>
        <p:spPr>
          <a:xfrm>
            <a:off x="6263640" y="2395728"/>
            <a:ext cx="1188720" cy="475488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8"/>
          <p:cNvSpPr/>
          <p:nvPr/>
        </p:nvSpPr>
        <p:spPr>
          <a:xfrm>
            <a:off x="6263640" y="2395728"/>
            <a:ext cx="118872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CPU: update PQ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8"/>
          <p:cNvSpPr/>
          <p:nvPr/>
        </p:nvSpPr>
        <p:spPr>
          <a:xfrm>
            <a:off x="7498080" y="2395728"/>
            <a:ext cx="594360" cy="475488"/>
          </a:xfrm>
          <a:prstGeom prst="rect">
            <a:avLst/>
          </a:prstGeom>
          <a:solidFill>
            <a:srgbClr val="374151"/>
          </a:solidFill>
          <a:ln cap="flat" cmpd="sng" w="12700">
            <a:solidFill>
              <a:srgbClr val="37415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8"/>
          <p:cNvSpPr/>
          <p:nvPr/>
        </p:nvSpPr>
        <p:spPr>
          <a:xfrm>
            <a:off x="7498080" y="2395728"/>
            <a:ext cx="59436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750"/>
              <a:buFont typeface="Calibri"/>
              <a:buNone/>
            </a:pPr>
            <a:r>
              <a:rPr b="0" i="0" lang="en-US" sz="7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Idle</a:t>
            </a:r>
            <a:endParaRPr b="0" i="0" sz="7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8"/>
          <p:cNvSpPr/>
          <p:nvPr/>
        </p:nvSpPr>
        <p:spPr>
          <a:xfrm>
            <a:off x="320040" y="2971800"/>
            <a:ext cx="8503920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50"/>
              <a:buFont typeface="Calibri"/>
              <a:buNone/>
            </a:pPr>
            <a:r>
              <a:rPr b="0" i="1" lang="en-US" sz="85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One SSSP iteration timeline (not to scale)</a:t>
            </a:r>
            <a:endParaRPr b="0" i="0" sz="8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8"/>
          <p:cNvSpPr/>
          <p:nvPr/>
        </p:nvSpPr>
        <p:spPr>
          <a:xfrm>
            <a:off x="320040" y="3337560"/>
            <a:ext cx="2788920" cy="16002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8"/>
          <p:cNvSpPr/>
          <p:nvPr/>
        </p:nvSpPr>
        <p:spPr>
          <a:xfrm>
            <a:off x="320040" y="3337560"/>
            <a:ext cx="278892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8"/>
          <p:cNvSpPr/>
          <p:nvPr/>
        </p:nvSpPr>
        <p:spPr>
          <a:xfrm>
            <a:off x="429768" y="3429000"/>
            <a:ext cx="25786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Unified Memory (UM) — Reduced Transfer Code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8"/>
          <p:cNvSpPr/>
          <p:nvPr/>
        </p:nvSpPr>
        <p:spPr>
          <a:xfrm>
            <a:off x="429768" y="3794760"/>
            <a:ext cx="257860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cudaMallocManaged() eliminates explicit cudaMemcpy for distance array. GPU and CPU share virtual address space; CUDA runtime handles page migration. Penalty: first-access page fault latency ~200 µs. Use prefetchAsync() to amortise before kernel launch.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8"/>
          <p:cNvSpPr/>
          <p:nvPr/>
        </p:nvSpPr>
        <p:spPr>
          <a:xfrm>
            <a:off x="3264408" y="3337560"/>
            <a:ext cx="2788920" cy="16002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6" name="Google Shape;276;p8"/>
          <p:cNvSpPr/>
          <p:nvPr/>
        </p:nvSpPr>
        <p:spPr>
          <a:xfrm>
            <a:off x="3264408" y="3337560"/>
            <a:ext cx="2788920" cy="54864"/>
          </a:xfrm>
          <a:prstGeom prst="rect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8"/>
          <p:cNvSpPr/>
          <p:nvPr/>
        </p:nvSpPr>
        <p:spPr>
          <a:xfrm>
            <a:off x="3374136" y="3429000"/>
            <a:ext cx="25786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Double Buffering — Overlap Compute &amp; Transfer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8"/>
          <p:cNvSpPr/>
          <p:nvPr/>
        </p:nvSpPr>
        <p:spPr>
          <a:xfrm>
            <a:off x="3374136" y="3794760"/>
            <a:ext cx="257860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Two alternating device buffers: while GPU processes frontier buffer A, CPU prepares next batch in buffer B. Requires CUDA streams with cudaMemcpyAsync + cudaEventRecord synchronisation barriers. Achieves ≥70% overlap on A100 NVLink-less configurations.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8"/>
          <p:cNvSpPr/>
          <p:nvPr/>
        </p:nvSpPr>
        <p:spPr>
          <a:xfrm>
            <a:off x="6208776" y="3337560"/>
            <a:ext cx="2788920" cy="1600200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8"/>
          <p:cNvSpPr/>
          <p:nvPr/>
        </p:nvSpPr>
        <p:spPr>
          <a:xfrm>
            <a:off x="6208776" y="3337560"/>
            <a:ext cx="2788920" cy="54864"/>
          </a:xfrm>
          <a:prstGeom prst="rect">
            <a:avLst/>
          </a:prstGeom>
          <a:solidFill>
            <a:srgbClr val="22C55E"/>
          </a:solidFill>
          <a:ln cap="flat" cmpd="sng" w="12700">
            <a:solidFill>
              <a:srgbClr val="22C5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8"/>
          <p:cNvSpPr/>
          <p:nvPr/>
        </p:nvSpPr>
        <p:spPr>
          <a:xfrm>
            <a:off x="6318504" y="3429000"/>
            <a:ext cx="2578608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22C55E"/>
              </a:buClr>
              <a:buSzPts val="1000"/>
              <a:buFont typeface="Calibri"/>
              <a:buNone/>
            </a:pPr>
            <a:r>
              <a:rPr b="1" i="0" lang="en-US" sz="1000" u="none" cap="none" strike="noStrike">
                <a:solidFill>
                  <a:srgbClr val="22C55E"/>
                </a:solidFill>
                <a:latin typeface="Calibri"/>
                <a:ea typeface="Calibri"/>
                <a:cs typeface="Calibri"/>
                <a:sym typeface="Calibri"/>
              </a:rPr>
              <a:t>Frontier Batching — Amortise Launch Overhead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8"/>
          <p:cNvSpPr/>
          <p:nvPr/>
        </p:nvSpPr>
        <p:spPr>
          <a:xfrm>
            <a:off x="6318504" y="3794760"/>
            <a:ext cx="2578608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Accumulate ≥4096 frontier vertices before invoking kernel. Single 5 µs DMA launch serves thousands of relaxations vs. per-vertex invocation. Tradeoff: introduces stale-distance reads; corrected with Bellman-Ford sweep at batch boundaries.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F5FB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9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E293B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1E293B"/>
                </a:solidFill>
                <a:latin typeface="Calibri"/>
                <a:ea typeface="Calibri"/>
                <a:cs typeface="Calibri"/>
                <a:sym typeface="Calibri"/>
              </a:rPr>
              <a:t>Performance Benchmarking: Speedup on Synthetic vs. Real-World Graphs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9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90" name="Google Shape;29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0040" y="914400"/>
            <a:ext cx="5486400" cy="4023360"/>
          </a:xfrm>
          <a:prstGeom prst="rect">
            <a:avLst/>
          </a:prstGeom>
          <a:noFill/>
          <a:ln>
            <a:noFill/>
          </a:ln>
        </p:spPr>
      </p:pic>
      <p:sp>
        <p:nvSpPr>
          <p:cNvPr id="291" name="Google Shape;291;p9"/>
          <p:cNvSpPr/>
          <p:nvPr/>
        </p:nvSpPr>
        <p:spPr>
          <a:xfrm>
            <a:off x="5989320" y="960120"/>
            <a:ext cx="28346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9"/>
          <p:cNvSpPr/>
          <p:nvPr/>
        </p:nvSpPr>
        <p:spPr>
          <a:xfrm>
            <a:off x="5989320" y="960120"/>
            <a:ext cx="2834640" cy="54864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3" name="Google Shape;293;p9"/>
          <p:cNvSpPr/>
          <p:nvPr/>
        </p:nvSpPr>
        <p:spPr>
          <a:xfrm>
            <a:off x="6080760" y="1051560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22.4×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9"/>
          <p:cNvSpPr/>
          <p:nvPr/>
        </p:nvSpPr>
        <p:spPr>
          <a:xfrm>
            <a:off x="6080760" y="1508760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Speedup on Twitter social graph (V=41M, E=1.5B, power-law α=2.1)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9"/>
          <p:cNvSpPr/>
          <p:nvPr/>
        </p:nvSpPr>
        <p:spPr>
          <a:xfrm>
            <a:off x="5989320" y="2313432"/>
            <a:ext cx="28346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9"/>
          <p:cNvSpPr/>
          <p:nvPr/>
        </p:nvSpPr>
        <p:spPr>
          <a:xfrm>
            <a:off x="5989320" y="2313432"/>
            <a:ext cx="2834640" cy="54864"/>
          </a:xfrm>
          <a:prstGeom prst="rect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9"/>
          <p:cNvSpPr/>
          <p:nvPr/>
        </p:nvSpPr>
        <p:spPr>
          <a:xfrm>
            <a:off x="6080760" y="2404872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2.1×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9"/>
          <p:cNvSpPr/>
          <p:nvPr/>
        </p:nvSpPr>
        <p:spPr>
          <a:xfrm>
            <a:off x="6080760" y="2862072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Speedup on road networks — near-planar graphs; GPU underutilised, high PCIe overhead dominates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9"/>
          <p:cNvSpPr/>
          <p:nvPr/>
        </p:nvSpPr>
        <p:spPr>
          <a:xfrm>
            <a:off x="5989320" y="3666744"/>
            <a:ext cx="2834640" cy="123444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5DB"/>
            </a:solidFill>
            <a:prstDash val="solid"/>
            <a:round/>
            <a:headEnd len="sm" w="sm" type="none"/>
            <a:tailEnd len="sm" w="sm" type="none"/>
          </a:ln>
          <a:effectLst>
            <a:outerShdw blurRad="101600" rotWithShape="0" algn="bl" dir="8100000" dist="25400">
              <a:srgbClr val="000000">
                <a:alpha val="7843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9"/>
          <p:cNvSpPr/>
          <p:nvPr/>
        </p:nvSpPr>
        <p:spPr>
          <a:xfrm>
            <a:off x="5989320" y="3666744"/>
            <a:ext cx="2834640" cy="54864"/>
          </a:xfrm>
          <a:prstGeom prst="rect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9"/>
          <p:cNvSpPr/>
          <p:nvPr/>
        </p:nvSpPr>
        <p:spPr>
          <a:xfrm>
            <a:off x="6080760" y="3758184"/>
            <a:ext cx="26517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2600"/>
              <a:buFont typeface="Calibri"/>
              <a:buNone/>
            </a:pPr>
            <a:r>
              <a:rPr b="1" i="0" lang="en-US" sz="26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0.6× GPU-only</a:t>
            </a:r>
            <a:endParaRPr b="0" i="0" sz="2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9"/>
          <p:cNvSpPr/>
          <p:nvPr/>
        </p:nvSpPr>
        <p:spPr>
          <a:xfrm>
            <a:off x="6080760" y="4215384"/>
            <a:ext cx="2651760" cy="62179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75569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475569"/>
                </a:solidFill>
                <a:latin typeface="Calibri"/>
                <a:ea typeface="Calibri"/>
                <a:cs typeface="Calibri"/>
                <a:sym typeface="Calibri"/>
              </a:rPr>
              <a:t>Road network shows GPU-only regression: warp divergence + sequential PQ cost exceeds benefit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9"/>
          <p:cNvSpPr/>
          <p:nvPr/>
        </p:nvSpPr>
        <p:spPr>
          <a:xfrm>
            <a:off x="320040" y="4892040"/>
            <a:ext cx="850392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800"/>
              <a:buFont typeface="Calibri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0F1E"/>
        </a:solid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10"/>
          <p:cNvSpPr/>
          <p:nvPr/>
        </p:nvSpPr>
        <p:spPr>
          <a:xfrm>
            <a:off x="365760" y="164592"/>
            <a:ext cx="8412480" cy="56692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2E8F0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rgbClr val="E2E8F0"/>
                </a:solidFill>
                <a:latin typeface="Calibri"/>
                <a:ea typeface="Calibri"/>
                <a:cs typeface="Calibri"/>
                <a:sym typeface="Calibri"/>
              </a:rPr>
              <a:t>Limitations &amp; Hardware Constraints: Where the Hybrid Model Breaks Down</a:t>
            </a:r>
            <a:endParaRPr b="0" i="0" sz="2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0"/>
          <p:cNvSpPr/>
          <p:nvPr/>
        </p:nvSpPr>
        <p:spPr>
          <a:xfrm>
            <a:off x="365760" y="749808"/>
            <a:ext cx="8412480" cy="27432"/>
          </a:xfrm>
          <a:prstGeom prst="rect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1" name="Google Shape;311;p10"/>
          <p:cNvSpPr/>
          <p:nvPr/>
        </p:nvSpPr>
        <p:spPr>
          <a:xfrm>
            <a:off x="320040" y="987552"/>
            <a:ext cx="4206240" cy="12618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0"/>
          <p:cNvSpPr/>
          <p:nvPr/>
        </p:nvSpPr>
        <p:spPr>
          <a:xfrm>
            <a:off x="429768" y="1097280"/>
            <a:ext cx="384048" cy="384048"/>
          </a:xfrm>
          <a:prstGeom prst="ellipse">
            <a:avLst/>
          </a:prstGeom>
          <a:solidFill>
            <a:srgbClr val="EF4444"/>
          </a:solidFill>
          <a:ln cap="flat" cmpd="sng" w="12700">
            <a:solidFill>
              <a:srgbClr val="EF444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10"/>
          <p:cNvSpPr/>
          <p:nvPr/>
        </p:nvSpPr>
        <p:spPr>
          <a:xfrm>
            <a:off x="429768" y="1097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0"/>
          <p:cNvSpPr/>
          <p:nvPr/>
        </p:nvSpPr>
        <p:spPr>
          <a:xfrm>
            <a:off x="914400" y="1078992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F444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EF4444"/>
                </a:solidFill>
                <a:latin typeface="Calibri"/>
                <a:ea typeface="Calibri"/>
                <a:cs typeface="Calibri"/>
                <a:sym typeface="Calibri"/>
              </a:rPr>
              <a:t>Planar &amp; Low-Degree Graphs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10"/>
          <p:cNvSpPr/>
          <p:nvPr/>
        </p:nvSpPr>
        <p:spPr>
          <a:xfrm>
            <a:off x="457200" y="1408176"/>
            <a:ext cx="3950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Road networks, grid graphs, and meshes have avg. degree 3–6. GPU frontier batches remain too small to justify kernel launch overhead (~5 µs). Hybrid degrades to effectively CPU-only with extra synchronisation cost. No known GPU approach outperforms Dijkstra+heap on planar SSSP.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0"/>
          <p:cNvSpPr/>
          <p:nvPr/>
        </p:nvSpPr>
        <p:spPr>
          <a:xfrm>
            <a:off x="4709160" y="987552"/>
            <a:ext cx="4206240" cy="12618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10"/>
          <p:cNvSpPr/>
          <p:nvPr/>
        </p:nvSpPr>
        <p:spPr>
          <a:xfrm>
            <a:off x="4818888" y="1097280"/>
            <a:ext cx="384048" cy="384048"/>
          </a:xfrm>
          <a:prstGeom prst="ellipse">
            <a:avLst/>
          </a:prstGeom>
          <a:solidFill>
            <a:srgbClr val="F97316"/>
          </a:solidFill>
          <a:ln cap="flat" cmpd="sng" w="12700">
            <a:solidFill>
              <a:srgbClr val="F9731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10"/>
          <p:cNvSpPr/>
          <p:nvPr/>
        </p:nvSpPr>
        <p:spPr>
          <a:xfrm>
            <a:off x="4818888" y="10972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0"/>
          <p:cNvSpPr/>
          <p:nvPr/>
        </p:nvSpPr>
        <p:spPr>
          <a:xfrm>
            <a:off x="5303520" y="1078992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9731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97316"/>
                </a:solidFill>
                <a:latin typeface="Calibri"/>
                <a:ea typeface="Calibri"/>
                <a:cs typeface="Calibri"/>
                <a:sym typeface="Calibri"/>
              </a:rPr>
              <a:t>VRAM Capacity Wall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0"/>
          <p:cNvSpPr/>
          <p:nvPr/>
        </p:nvSpPr>
        <p:spPr>
          <a:xfrm>
            <a:off x="4846320" y="1408176"/>
            <a:ext cx="3950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A100 80 GB VRAM fits CSR for graphs up to ~E=5B edges at float32. Beyond this, graph must be partitioned across multiple GPUs or streamed from host. Multi-GPU NVLink bisection bandwidth (600 GB/s) partially compensates, but inter-partition edge cuts introduce frontier serialisation.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0"/>
          <p:cNvSpPr/>
          <p:nvPr/>
        </p:nvSpPr>
        <p:spPr>
          <a:xfrm>
            <a:off x="320040" y="2377440"/>
            <a:ext cx="4206240" cy="12618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0"/>
          <p:cNvSpPr/>
          <p:nvPr/>
        </p:nvSpPr>
        <p:spPr>
          <a:xfrm>
            <a:off x="429768" y="2487168"/>
            <a:ext cx="384048" cy="384048"/>
          </a:xfrm>
          <a:prstGeom prst="ellipse">
            <a:avLst/>
          </a:prstGeom>
          <a:solidFill>
            <a:srgbClr val="FBBF24"/>
          </a:solidFill>
          <a:ln cap="flat" cmpd="sng" w="12700">
            <a:solidFill>
              <a:srgbClr val="FBBF2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10"/>
          <p:cNvSpPr/>
          <p:nvPr/>
        </p:nvSpPr>
        <p:spPr>
          <a:xfrm>
            <a:off x="429768" y="24871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0"/>
          <p:cNvSpPr/>
          <p:nvPr/>
        </p:nvSpPr>
        <p:spPr>
          <a:xfrm>
            <a:off x="914400" y="2468880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BBF2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FBBF24"/>
                </a:solidFill>
                <a:latin typeface="Calibri"/>
                <a:ea typeface="Calibri"/>
                <a:cs typeface="Calibri"/>
                <a:sym typeface="Calibri"/>
              </a:rPr>
              <a:t>Non-Negative Weight Requirement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0"/>
          <p:cNvSpPr/>
          <p:nvPr/>
        </p:nvSpPr>
        <p:spPr>
          <a:xfrm>
            <a:off x="457200" y="2798064"/>
            <a:ext cx="3950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Dijkstra's correctness guarantee requires w(e) ≥ 0. The hybrid architecture inherits this constraint. Graphs with negative weights (e.g., financial arbitrage models) require Bellman-Ford or Johnson's algorithm — neither maps well to the frontier-based GPU kernel structure used here.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10"/>
          <p:cNvSpPr/>
          <p:nvPr/>
        </p:nvSpPr>
        <p:spPr>
          <a:xfrm>
            <a:off x="4709160" y="2377440"/>
            <a:ext cx="4206240" cy="12618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10"/>
          <p:cNvSpPr/>
          <p:nvPr/>
        </p:nvSpPr>
        <p:spPr>
          <a:xfrm>
            <a:off x="4818888" y="2487168"/>
            <a:ext cx="384048" cy="384048"/>
          </a:xfrm>
          <a:prstGeom prst="ellipse">
            <a:avLst/>
          </a:prstGeom>
          <a:solidFill>
            <a:srgbClr val="94A3B8"/>
          </a:solidFill>
          <a:ln cap="flat" cmpd="sng" w="12700">
            <a:solidFill>
              <a:srgbClr val="94A3B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10"/>
          <p:cNvSpPr/>
          <p:nvPr/>
        </p:nvSpPr>
        <p:spPr>
          <a:xfrm>
            <a:off x="4818888" y="2487168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0"/>
          <p:cNvSpPr/>
          <p:nvPr/>
        </p:nvSpPr>
        <p:spPr>
          <a:xfrm>
            <a:off x="5303520" y="2468880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Priority Queue Remains a Sequential Bottleneck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10"/>
          <p:cNvSpPr/>
          <p:nvPr/>
        </p:nvSpPr>
        <p:spPr>
          <a:xfrm>
            <a:off x="4846320" y="2798064"/>
            <a:ext cx="3950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Despite GPU-accelerated relaxation, the CPU min-heap extraction is O(log V) per iteration and not parallelised. Parallel priority queues (e.g., Brodal heap, LSM-tree-based) exist but have high constant factors; replacing the heap is a known open problem in parallel SSSP research.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10"/>
          <p:cNvSpPr/>
          <p:nvPr/>
        </p:nvSpPr>
        <p:spPr>
          <a:xfrm>
            <a:off x="320040" y="3767328"/>
            <a:ext cx="4206240" cy="12618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10"/>
          <p:cNvSpPr/>
          <p:nvPr/>
        </p:nvSpPr>
        <p:spPr>
          <a:xfrm>
            <a:off x="429768" y="3877056"/>
            <a:ext cx="384048" cy="384048"/>
          </a:xfrm>
          <a:prstGeom prst="ellipse">
            <a:avLst/>
          </a:prstGeom>
          <a:solidFill>
            <a:srgbClr val="06B6D4"/>
          </a:solidFill>
          <a:ln cap="flat" cmpd="sng" w="12700">
            <a:solidFill>
              <a:srgbClr val="06B6D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10"/>
          <p:cNvSpPr/>
          <p:nvPr/>
        </p:nvSpPr>
        <p:spPr>
          <a:xfrm>
            <a:off x="429768" y="38770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05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10"/>
          <p:cNvSpPr/>
          <p:nvPr/>
        </p:nvSpPr>
        <p:spPr>
          <a:xfrm>
            <a:off x="914400" y="3858768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6B6D4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06B6D4"/>
                </a:solidFill>
                <a:latin typeface="Calibri"/>
                <a:ea typeface="Calibri"/>
                <a:cs typeface="Calibri"/>
                <a:sym typeface="Calibri"/>
              </a:rPr>
              <a:t>atomicMin() Correctness Under Concurrent Writes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10"/>
          <p:cNvSpPr/>
          <p:nvPr/>
        </p:nvSpPr>
        <p:spPr>
          <a:xfrm>
            <a:off x="457200" y="4187952"/>
            <a:ext cx="3950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GPU atomicMin is correct for 32-bit unsigned int distances. Float32 atomicMin requires custom emulation (atomicCAS loop) since CUDA lacks native float atomicMin prior to sm_90. This reduces throughput by ~3× on high-contention hub nodes on pre-Hopper hardware.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0"/>
          <p:cNvSpPr/>
          <p:nvPr/>
        </p:nvSpPr>
        <p:spPr>
          <a:xfrm>
            <a:off x="4709160" y="3767328"/>
            <a:ext cx="4206240" cy="1261872"/>
          </a:xfrm>
          <a:prstGeom prst="rect">
            <a:avLst/>
          </a:prstGeom>
          <a:solidFill>
            <a:srgbClr val="111827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10"/>
          <p:cNvSpPr/>
          <p:nvPr/>
        </p:nvSpPr>
        <p:spPr>
          <a:xfrm>
            <a:off x="4818888" y="3877056"/>
            <a:ext cx="384048" cy="384048"/>
          </a:xfrm>
          <a:prstGeom prst="ellipse">
            <a:avLst/>
          </a:prstGeom>
          <a:solidFill>
            <a:srgbClr val="3B82F6"/>
          </a:solidFill>
          <a:ln cap="flat" cmpd="sng" w="12700">
            <a:solidFill>
              <a:srgbClr val="3B82F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8" name="Google Shape;338;p10"/>
          <p:cNvSpPr/>
          <p:nvPr/>
        </p:nvSpPr>
        <p:spPr>
          <a:xfrm>
            <a:off x="4818888" y="3877056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A0F1E"/>
              </a:buClr>
              <a:buSzPts val="900"/>
              <a:buFont typeface="Calibri"/>
              <a:buNone/>
            </a:pPr>
            <a:r>
              <a:rPr b="1" i="0" lang="en-US" sz="900" u="none" cap="none" strike="noStrike">
                <a:solidFill>
                  <a:srgbClr val="0A0F1E"/>
                </a:solidFill>
                <a:latin typeface="Calibri"/>
                <a:ea typeface="Calibri"/>
                <a:cs typeface="Calibri"/>
                <a:sym typeface="Calibri"/>
              </a:rPr>
              <a:t>06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10"/>
          <p:cNvSpPr/>
          <p:nvPr/>
        </p:nvSpPr>
        <p:spPr>
          <a:xfrm>
            <a:off x="5303520" y="3858768"/>
            <a:ext cx="3493008" cy="29260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3B82F6"/>
              </a:buClr>
              <a:buSzPts val="1100"/>
              <a:buFont typeface="Calibri"/>
              <a:buNone/>
            </a:pPr>
            <a:r>
              <a:rPr b="1" i="0" lang="en-US" sz="1100" u="none" cap="none" strike="noStrike">
                <a:solidFill>
                  <a:srgbClr val="3B82F6"/>
                </a:solidFill>
                <a:latin typeface="Calibri"/>
                <a:ea typeface="Calibri"/>
                <a:cs typeface="Calibri"/>
                <a:sym typeface="Calibri"/>
              </a:rPr>
              <a:t>PCIe as a Structural Throughput Ceiling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10"/>
          <p:cNvSpPr/>
          <p:nvPr/>
        </p:nvSpPr>
        <p:spPr>
          <a:xfrm>
            <a:off x="4846320" y="4187952"/>
            <a:ext cx="3950208" cy="80467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94A3B8"/>
              </a:buClr>
              <a:buSzPts val="900"/>
              <a:buFont typeface="Calibri"/>
              <a:buNone/>
            </a:pPr>
            <a:r>
              <a:rPr b="0" i="0" lang="en-US" sz="900" u="none" cap="none" strike="noStrike">
                <a:solidFill>
                  <a:srgbClr val="94A3B8"/>
                </a:solidFill>
                <a:latin typeface="Calibri"/>
                <a:ea typeface="Calibri"/>
                <a:cs typeface="Calibri"/>
                <a:sym typeface="Calibri"/>
              </a:rPr>
              <a:t>Even with double buffering, PCIe Gen4 x16 at 16 GB/s caps inter-round data movement. For graphs requiring frequent host–device frontier synchronisation (low graph diameter, dense layers), communication time dominates compute. NVLink-C2C (Grace Hopper Superchip) resolves this at 900 GB/s but targets server-class only.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